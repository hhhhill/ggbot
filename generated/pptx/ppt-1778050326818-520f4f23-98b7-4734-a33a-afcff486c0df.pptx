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4445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222222"/>
                </a:solidFill>
                <a:ea typeface="Microsoft YaHei"/>
              </a:rPr>
              <a:t>广州：千年商都，南国明珠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400" y="990600"/>
            <a:ext cx="7874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400" i="true">
                <a:solidFill>
                  <a:srgbClr val="5A5A5A"/>
                </a:solidFill>
                <a:ea typeface="Microsoft YaHei"/>
              </a:rPr>
              <a:t>开放包容，岭南大地的时代传奇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89000" y="1524000"/>
            <a:ext cx="9652000" cy="406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广东省省会、国家中心城市、超大城市，2023年常住人口1882.7万人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拥有2200多年建城史，首批国家历史文化名城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latin typeface="Microsoft YaHei"/>
              </a:rPr>
              <a:t>2023年GDP突破3万亿元，综合实力居全国前列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南大门、国际综合交通枢纽，连接全球230多个通航点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4445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222222"/>
                </a:solidFill>
                <a:ea typeface="Microsoft YaHei"/>
              </a:rPr>
              <a:t>地理区位与自然禀赋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400" y="990600"/>
            <a:ext cx="7874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400" i="true">
                <a:solidFill>
                  <a:srgbClr val="5A5A5A"/>
                </a:solidFill>
                <a:ea typeface="Microsoft YaHei"/>
              </a:rPr>
              <a:t>珠江三角洲核心，花城美誉四海扬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89000" y="1524000"/>
            <a:ext cx="9652000" cy="406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总面积7434.4平方千米，地势东北高西南低，河网密布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南亚热带季风气候，年均气温21.5℃—22.2℃，年降水量约1800毫米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四季常绿、花卉繁茂，“花城”之名与迎春花市传承民俗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广州港2022年货物吞吐量6.56亿吨，集装箱2485万标箱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白云国际机场2023年旅客吞吐量超6300万人次，连续四年全国第一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4445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222222"/>
                </a:solidFill>
                <a:ea typeface="Microsoft YaHei"/>
              </a:rPr>
              <a:t>深厚的历史积淀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400" y="990600"/>
            <a:ext cx="7874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400" i="true">
                <a:solidFill>
                  <a:srgbClr val="5A5A5A"/>
                </a:solidFill>
                <a:ea typeface="Microsoft YaHei"/>
              </a:rPr>
              <a:t>从秦汉番禺到近代变革前沿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89000" y="1524000"/>
            <a:ext cx="9652000" cy="406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秦设南海郡，郡治番禺为建城之始；汉代成为海上丝绸之路起点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唐宋设市舶司，与泉州、扬州并称全国三大贸易港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明清十三行“一口通商”，丝绸茶叶瓷器由此运往全球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近代虎门销烟、黄花岗起义、黄埔军校推动中国变革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改革开放后勇立潮头，贡献无数“第一个吃螃蟹”的实践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4445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222222"/>
                </a:solidFill>
                <a:ea typeface="Microsoft YaHei"/>
              </a:rPr>
              <a:t>多维立体的经济版图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400" y="990600"/>
            <a:ext cx="7874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400" i="true">
                <a:solidFill>
                  <a:srgbClr val="5A5A5A"/>
                </a:solidFill>
                <a:ea typeface="Microsoft YaHei"/>
              </a:rPr>
              <a:t>服务业主导，创新驱动高质量发展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89000" y="1524000"/>
            <a:ext cx="9652000" cy="406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latin typeface="Microsoft YaHei"/>
              </a:rPr>
              <a:t>2023年GDP达30355.73亿元，三次产业结构为1.09:27.32:71.59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汽车、电子、石化是传统支柱，新能源汽车产量突破65万辆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生物医药企业超3000家集聚开发区，达安基因等驰名全国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天河CBD为华南唯一世界商务区联盟成员，琶洲打造数字经济示范区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广交会单届成交额常超300亿美元，链接全球200多个国家和地区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4445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222222"/>
                </a:solidFill>
                <a:ea typeface="Microsoft YaHei"/>
              </a:rPr>
              <a:t>璀璨的文化与民俗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400" y="990600"/>
            <a:ext cx="7874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400" i="true">
                <a:solidFill>
                  <a:srgbClr val="5A5A5A"/>
                </a:solidFill>
                <a:ea typeface="Microsoft YaHei"/>
              </a:rPr>
              <a:t>广府文化发源地，粤韵风华传四海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89000" y="1524000"/>
            <a:ext cx="9652000" cy="406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粤剧被列入联合国非遗代表作名录，红线女等大师享誉中外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latin typeface="Microsoft YaHei"/>
              </a:rPr>
              <a:t>“食在广州”，粤菜选料精细，早茶文化深入市民日常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广州话为粤语标准音，俚语民谚承载商业智慧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行花街、赛龙舟、舞狮、飘色等传统民俗生机勃勃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米其林指南2018年进入广州，多家餐厅上榜彰显饮食魅力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4445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222222"/>
                </a:solidFill>
                <a:ea typeface="Microsoft YaHei"/>
              </a:rPr>
              <a:t>必游的景观地标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400" y="990600"/>
            <a:ext cx="7874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400" i="true">
                <a:solidFill>
                  <a:srgbClr val="5A5A5A"/>
                </a:solidFill>
                <a:ea typeface="Microsoft YaHei"/>
              </a:rPr>
              <a:t>古今交融，城市漫游经典路线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89000" y="1524000"/>
            <a:ext cx="9652000" cy="406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广州塔高600米，中国第一高旅游观光塔，珠江夜游必赏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白云山主峰摩星岭382米，古羊城八景中“白云晚望”胜迹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陈家祠集岭南装饰艺术之大成，郭沫若盛赞工艺精美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沙面岛保留19世纪欧陆建筑，永庆坊微改造活化老街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南越王博物院、中山纪念堂、长隆旅游度假区年接待游客超千万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4445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222222"/>
                </a:solidFill>
                <a:ea typeface="Microsoft YaHei"/>
              </a:rPr>
              <a:t>畅达的交通与城市更新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400" y="990600"/>
            <a:ext cx="7874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400" i="true">
                <a:solidFill>
                  <a:srgbClr val="5A5A5A"/>
                </a:solidFill>
                <a:ea typeface="Microsoft YaHei"/>
              </a:rPr>
              <a:t>立体化网络支撑超大城市发展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89000" y="1524000"/>
            <a:ext cx="9652000" cy="406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广州南站日均到发旅客超50万人次，高铁通达全国主要城市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地铁运营里程突破650公里，16条线路，日均客运量约860万人次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老城区通过活化历史建筑、引入文创实现有机更新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南沙新区定位粤港澳全面合作示范区，吸引高端制造、航运金融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444500"/>
            <a:ext cx="7874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2400" b="true">
                <a:solidFill>
                  <a:srgbClr val="222222"/>
                </a:solidFill>
                <a:ea typeface="Microsoft YaHei"/>
              </a:rPr>
              <a:t>未来展望：迈向全球标杆城市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60400" y="990600"/>
            <a:ext cx="7874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r>
              <a:rPr lang="en-US" sz="1400" i="true">
                <a:solidFill>
                  <a:srgbClr val="5A5A5A"/>
                </a:solidFill>
                <a:ea typeface="Microsoft YaHei"/>
              </a:rPr>
              <a:t>大湾区机遇，创新与绿色双轮驱动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889000" y="1524000"/>
            <a:ext cx="9652000" cy="4064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《广州市国土空间总体规划》定位世界级文化魅力与全球资源配置能力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广州实验室、粤港澳大湾区国家技术创新中心等国家级平台已布局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海珠湿地约1100公顷，成为全国特大城市中心规模最大的城央湿地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承诺2060年实现碳中和，推进能源、交通、建筑低碳转型</a:t>
            </a:r>
          </a:p>
          <a:p>
            <a:pPr marL="228600" indent="228600" algn="l">
              <a:spcAft>
                <a:spcPct val="8000"/>
              </a:spcAft>
              <a:buFont typeface="Arial"/>
              <a:buChar char="•"/>
            </a:pPr>
            <a:r>
              <a:rPr lang="en-US" sz="1800">
                <a:solidFill>
                  <a:srgbClr val="373737"/>
                </a:solidFill>
                <a:ea typeface="Microsoft YaHei"/>
              </a:rPr>
              <a:t>深化与港澳规则衔接，强化国际商贸中心、综合交通枢纽功能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